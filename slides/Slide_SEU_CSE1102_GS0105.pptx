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" charset="1" panose="020B0502030000000004"/>
      <p:regular r:id="rId17"/>
    </p:embeddedFont>
    <p:embeddedFont>
      <p:font typeface="210 수퍼사이즈" charset="1" panose="02020603020101020101"/>
      <p:regular r:id="rId18"/>
    </p:embeddedFont>
    <p:embeddedFont>
      <p:font typeface="Inter Bold" charset="1" panose="020B0802030000000004"/>
      <p:regular r:id="rId19"/>
    </p:embeddedFont>
    <p:embeddedFont>
      <p:font typeface="Ballpoint" charset="1" panose="00000000000000000000"/>
      <p:regular r:id="rId20"/>
    </p:embeddedFont>
    <p:embeddedFont>
      <p:font typeface="Lazydog" charset="1" panose="00000000000000000000"/>
      <p:regular r:id="rId21"/>
    </p:embeddedFont>
    <p:embeddedFont>
      <p:font typeface="Handy Casual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41.png" Type="http://schemas.openxmlformats.org/officeDocument/2006/relationships/image"/><Relationship Id="rId17" Target="../media/image42.png" Type="http://schemas.openxmlformats.org/officeDocument/2006/relationships/image"/><Relationship Id="rId18" Target="../media/image4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4.jpe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3670" y="-190335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608206" y="1741171"/>
            <a:ext cx="6679794" cy="7217852"/>
          </a:xfrm>
          <a:custGeom>
            <a:avLst/>
            <a:gdLst/>
            <a:ahLst/>
            <a:cxnLst/>
            <a:rect r="r" b="b" t="t" l="l"/>
            <a:pathLst>
              <a:path h="7217852" w="6679794">
                <a:moveTo>
                  <a:pt x="0" y="0"/>
                </a:moveTo>
                <a:lnTo>
                  <a:pt x="6679794" y="0"/>
                </a:lnTo>
                <a:lnTo>
                  <a:pt x="6679794" y="7217852"/>
                </a:lnTo>
                <a:lnTo>
                  <a:pt x="0" y="7217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75631" y="8149004"/>
            <a:ext cx="6035428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SEU-CSE1102-GS0105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523670" y="76047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0" y="0"/>
                </a:moveTo>
                <a:lnTo>
                  <a:pt x="4327228" y="0"/>
                </a:lnTo>
                <a:lnTo>
                  <a:pt x="4327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463728" y="-2373629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432722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27227" y="0"/>
                </a:lnTo>
                <a:lnTo>
                  <a:pt x="4327227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247764" y="274902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3072036" y="0"/>
                </a:moveTo>
                <a:lnTo>
                  <a:pt x="0" y="0"/>
                </a:lnTo>
                <a:lnTo>
                  <a:pt x="0" y="1703584"/>
                </a:lnTo>
                <a:lnTo>
                  <a:pt x="3072036" y="1703584"/>
                </a:lnTo>
                <a:lnTo>
                  <a:pt x="307203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5463728" y="9258300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0" y="1703583"/>
                </a:moveTo>
                <a:lnTo>
                  <a:pt x="3072036" y="1703583"/>
                </a:lnTo>
                <a:lnTo>
                  <a:pt x="3072036" y="0"/>
                </a:lnTo>
                <a:lnTo>
                  <a:pt x="0" y="0"/>
                </a:lnTo>
                <a:lnTo>
                  <a:pt x="0" y="170358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247764" y="3978890"/>
            <a:ext cx="12221368" cy="116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3"/>
              </a:lnSpc>
            </a:pPr>
            <a:r>
              <a:rPr lang="en-US" sz="8175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DATA &amp; SECURITY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901609" y="6788239"/>
            <a:ext cx="2116259" cy="2873931"/>
          </a:xfrm>
          <a:custGeom>
            <a:avLst/>
            <a:gdLst/>
            <a:ahLst/>
            <a:cxnLst/>
            <a:rect r="r" b="b" t="t" l="l"/>
            <a:pathLst>
              <a:path h="2873931" w="2116259">
                <a:moveTo>
                  <a:pt x="0" y="0"/>
                </a:moveTo>
                <a:lnTo>
                  <a:pt x="2116259" y="0"/>
                </a:lnTo>
                <a:lnTo>
                  <a:pt x="2116259" y="2873931"/>
                </a:lnTo>
                <a:lnTo>
                  <a:pt x="0" y="2873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3670" y="-190335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523670" y="76047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0" y="0"/>
                </a:moveTo>
                <a:lnTo>
                  <a:pt x="4327228" y="0"/>
                </a:lnTo>
                <a:lnTo>
                  <a:pt x="4327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484442" y="-14325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43272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27228" y="0"/>
                </a:lnTo>
                <a:lnTo>
                  <a:pt x="432722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47764" y="274902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3072036" y="0"/>
                </a:moveTo>
                <a:lnTo>
                  <a:pt x="0" y="0"/>
                </a:lnTo>
                <a:lnTo>
                  <a:pt x="0" y="1703584"/>
                </a:lnTo>
                <a:lnTo>
                  <a:pt x="3072036" y="1703584"/>
                </a:lnTo>
                <a:lnTo>
                  <a:pt x="30720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1946778" y="6358206"/>
            <a:ext cx="6588985" cy="3653892"/>
          </a:xfrm>
          <a:custGeom>
            <a:avLst/>
            <a:gdLst/>
            <a:ahLst/>
            <a:cxnLst/>
            <a:rect r="r" b="b" t="t" l="l"/>
            <a:pathLst>
              <a:path h="3653892" w="6588985">
                <a:moveTo>
                  <a:pt x="0" y="3653892"/>
                </a:moveTo>
                <a:lnTo>
                  <a:pt x="6588986" y="3653892"/>
                </a:lnTo>
                <a:lnTo>
                  <a:pt x="6588986" y="0"/>
                </a:lnTo>
                <a:lnTo>
                  <a:pt x="0" y="0"/>
                </a:lnTo>
                <a:lnTo>
                  <a:pt x="0" y="36538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30697" y="5247899"/>
            <a:ext cx="7226607" cy="5229435"/>
          </a:xfrm>
          <a:custGeom>
            <a:avLst/>
            <a:gdLst/>
            <a:ahLst/>
            <a:cxnLst/>
            <a:rect r="r" b="b" t="t" l="l"/>
            <a:pathLst>
              <a:path h="5229435" w="7226607">
                <a:moveTo>
                  <a:pt x="0" y="0"/>
                </a:moveTo>
                <a:lnTo>
                  <a:pt x="7226606" y="0"/>
                </a:lnTo>
                <a:lnTo>
                  <a:pt x="7226606" y="5229436"/>
                </a:lnTo>
                <a:lnTo>
                  <a:pt x="0" y="52294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30697" y="1466970"/>
            <a:ext cx="722660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OUR GROUP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2948" y="2997073"/>
            <a:ext cx="11082148" cy="149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MD MAHFUZ SARKER MAHI (2026000000004)</a:t>
            </a:r>
          </a:p>
          <a:p>
            <a:pPr algn="ctr">
              <a:lnSpc>
                <a:spcPts val="4000"/>
              </a:lnSpc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FARZANA AHMED (2026000000007)</a:t>
            </a:r>
          </a:p>
          <a:p>
            <a:pPr algn="ctr">
              <a:lnSpc>
                <a:spcPts val="4000"/>
              </a:lnSpc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TASPRIA CHOWDHURY ANISHA (2026000000017)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3670" y="274902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0">
            <a:off x="15484442" y="-14325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43272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27228" y="0"/>
                </a:lnTo>
                <a:lnTo>
                  <a:pt x="432722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486632" y="-576889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3072036" y="0"/>
                </a:moveTo>
                <a:lnTo>
                  <a:pt x="0" y="0"/>
                </a:lnTo>
                <a:lnTo>
                  <a:pt x="0" y="1703583"/>
                </a:lnTo>
                <a:lnTo>
                  <a:pt x="3072036" y="1703583"/>
                </a:lnTo>
                <a:lnTo>
                  <a:pt x="30720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5463728" y="8308514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0" y="1703584"/>
                </a:moveTo>
                <a:lnTo>
                  <a:pt x="3072036" y="1703584"/>
                </a:lnTo>
                <a:lnTo>
                  <a:pt x="3072036" y="0"/>
                </a:lnTo>
                <a:lnTo>
                  <a:pt x="0" y="0"/>
                </a:lnTo>
                <a:lnTo>
                  <a:pt x="0" y="17035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4113" y="2044055"/>
            <a:ext cx="741126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INTRODUCTION</a:t>
            </a:r>
          </a:p>
          <a:p>
            <a:pPr algn="ctr">
              <a:lnSpc>
                <a:spcPts val="3300"/>
              </a:lnSpc>
            </a:pPr>
          </a:p>
          <a:p>
            <a:pPr algn="ctr">
              <a:lnSpc>
                <a:spcPts val="33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49386" y="1465436"/>
            <a:ext cx="998408" cy="998408"/>
          </a:xfrm>
          <a:custGeom>
            <a:avLst/>
            <a:gdLst/>
            <a:ahLst/>
            <a:cxnLst/>
            <a:rect r="r" b="b" t="t" l="l"/>
            <a:pathLst>
              <a:path h="998408" w="998408">
                <a:moveTo>
                  <a:pt x="0" y="0"/>
                </a:moveTo>
                <a:lnTo>
                  <a:pt x="998408" y="0"/>
                </a:lnTo>
                <a:lnTo>
                  <a:pt x="998408" y="998408"/>
                </a:lnTo>
                <a:lnTo>
                  <a:pt x="0" y="998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96545" y="3065303"/>
            <a:ext cx="7283585" cy="4860137"/>
          </a:xfrm>
          <a:custGeom>
            <a:avLst/>
            <a:gdLst/>
            <a:ahLst/>
            <a:cxnLst/>
            <a:rect r="r" b="b" t="t" l="l"/>
            <a:pathLst>
              <a:path h="4860137" w="7283585">
                <a:moveTo>
                  <a:pt x="0" y="0"/>
                </a:moveTo>
                <a:lnTo>
                  <a:pt x="7283585" y="0"/>
                </a:lnTo>
                <a:lnTo>
                  <a:pt x="7283585" y="4860138"/>
                </a:lnTo>
                <a:lnTo>
                  <a:pt x="0" y="48601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46229" y="2716861"/>
            <a:ext cx="9404151" cy="4785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6634" indent="-213317" lvl="1">
              <a:lnSpc>
                <a:spcPts val="3161"/>
              </a:lnSpc>
              <a:buFont typeface="Arial"/>
              <a:buChar char="•"/>
            </a:pPr>
            <a:r>
              <a:rPr lang="en-US" sz="19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is one of the most valuable assets in the digital era</a:t>
            </a:r>
          </a:p>
          <a:p>
            <a:pPr algn="l">
              <a:lnSpc>
                <a:spcPts val="3161"/>
              </a:lnSpc>
            </a:pPr>
          </a:p>
          <a:p>
            <a:pPr algn="l" marL="426634" indent="-213317" lvl="1">
              <a:lnSpc>
                <a:spcPts val="3161"/>
              </a:lnSpc>
              <a:buFont typeface="Arial"/>
              <a:buChar char="•"/>
            </a:pPr>
            <a:r>
              <a:rPr lang="en-US" sz="19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Rapid technology growth has increased cyber threats world wide</a:t>
            </a:r>
          </a:p>
          <a:p>
            <a:pPr algn="l">
              <a:lnSpc>
                <a:spcPts val="3161"/>
              </a:lnSpc>
            </a:pPr>
          </a:p>
          <a:p>
            <a:pPr algn="l" marL="426634" indent="-213317" lvl="1">
              <a:lnSpc>
                <a:spcPts val="3161"/>
              </a:lnSpc>
              <a:buFont typeface="Arial"/>
              <a:buChar char="•"/>
            </a:pPr>
            <a:r>
              <a:rPr lang="en-US" sz="19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security protects information from unauthorised access and attacks</a:t>
            </a:r>
          </a:p>
          <a:p>
            <a:pPr algn="l">
              <a:lnSpc>
                <a:spcPts val="3161"/>
              </a:lnSpc>
            </a:pPr>
          </a:p>
          <a:p>
            <a:pPr algn="l" marL="426634" indent="-213317" lvl="1">
              <a:lnSpc>
                <a:spcPts val="3161"/>
              </a:lnSpc>
              <a:buFont typeface="Arial"/>
              <a:buChar char="•"/>
            </a:pPr>
            <a:r>
              <a:rPr lang="en-US" sz="19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CIA Triad ensures confidentiality, integrity, and availability of data</a:t>
            </a:r>
          </a:p>
          <a:p>
            <a:pPr algn="l">
              <a:lnSpc>
                <a:spcPts val="3161"/>
              </a:lnSpc>
            </a:pPr>
          </a:p>
          <a:p>
            <a:pPr algn="l" marL="426634" indent="-213317" lvl="1">
              <a:lnSpc>
                <a:spcPts val="3161"/>
              </a:lnSpc>
              <a:buFont typeface="Arial"/>
              <a:buChar char="•"/>
            </a:pPr>
            <a:r>
              <a:rPr lang="en-US" sz="19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Encryption and authentication are essential security tools</a:t>
            </a:r>
          </a:p>
          <a:p>
            <a:pPr algn="l">
              <a:lnSpc>
                <a:spcPts val="3161"/>
              </a:lnSpc>
            </a:pPr>
          </a:p>
          <a:p>
            <a:pPr algn="l" marL="426634" indent="-213317" lvl="1">
              <a:lnSpc>
                <a:spcPts val="3161"/>
              </a:lnSpc>
              <a:buFont typeface="Arial"/>
              <a:buChar char="•"/>
            </a:pPr>
            <a:r>
              <a:rPr lang="en-US" sz="19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Strong cybersecurity protects privacy, trust, and digital safety</a:t>
            </a:r>
          </a:p>
          <a:p>
            <a:pPr algn="l">
              <a:lnSpc>
                <a:spcPts val="316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7413324"/>
            <a:ext cx="2902704" cy="2873676"/>
          </a:xfrm>
          <a:custGeom>
            <a:avLst/>
            <a:gdLst/>
            <a:ahLst/>
            <a:cxnLst/>
            <a:rect r="r" b="b" t="t" l="l"/>
            <a:pathLst>
              <a:path h="2873676" w="2902704">
                <a:moveTo>
                  <a:pt x="0" y="0"/>
                </a:moveTo>
                <a:lnTo>
                  <a:pt x="2902704" y="0"/>
                </a:lnTo>
                <a:lnTo>
                  <a:pt x="2902704" y="2873676"/>
                </a:lnTo>
                <a:lnTo>
                  <a:pt x="0" y="28736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3670" y="-190335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523670" y="76047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0" y="0"/>
                </a:moveTo>
                <a:lnTo>
                  <a:pt x="4327228" y="0"/>
                </a:lnTo>
                <a:lnTo>
                  <a:pt x="4327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484442" y="-14325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43272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27228" y="0"/>
                </a:lnTo>
                <a:lnTo>
                  <a:pt x="432722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47764" y="274902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3072036" y="0"/>
                </a:moveTo>
                <a:lnTo>
                  <a:pt x="0" y="0"/>
                </a:lnTo>
                <a:lnTo>
                  <a:pt x="0" y="1703584"/>
                </a:lnTo>
                <a:lnTo>
                  <a:pt x="3072036" y="1703584"/>
                </a:lnTo>
                <a:lnTo>
                  <a:pt x="30720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45479" y="1102186"/>
            <a:ext cx="1123818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DATA VS INFORMATION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24065"/>
            <a:ext cx="7709677" cy="32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44"/>
              </a:lnSpc>
            </a:pPr>
            <a:r>
              <a:rPr lang="en-US" b="true" sz="3027" spc="21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Data</a:t>
            </a:r>
          </a:p>
          <a:p>
            <a:pPr algn="l" marL="468036" indent="-234018" lvl="1">
              <a:lnSpc>
                <a:spcPts val="3468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Raw</a:t>
            </a:r>
            <a:r>
              <a:rPr lang="en-US" sz="21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facts</a:t>
            </a:r>
          </a:p>
          <a:p>
            <a:pPr algn="l" marL="468036" indent="-234018" lvl="1">
              <a:lnSpc>
                <a:spcPts val="3468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Unprocessed </a:t>
            </a:r>
          </a:p>
          <a:p>
            <a:pPr algn="l" marL="468036" indent="-234018" lvl="1">
              <a:lnSpc>
                <a:spcPts val="3468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Unorganized symbols </a:t>
            </a:r>
          </a:p>
          <a:p>
            <a:pPr algn="l" marL="468036" indent="-234018" lvl="1">
              <a:lnSpc>
                <a:spcPts val="3468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Numbers </a:t>
            </a:r>
          </a:p>
          <a:p>
            <a:pPr algn="l" marL="468036" indent="-234018" lvl="1">
              <a:lnSpc>
                <a:spcPts val="3468"/>
              </a:lnSpc>
              <a:buFont typeface="Arial"/>
              <a:buChar char="•"/>
            </a:pPr>
            <a:r>
              <a:rPr lang="en-US" sz="21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Observations with no context or meaning on their own.</a:t>
            </a:r>
          </a:p>
          <a:p>
            <a:pPr algn="just">
              <a:lnSpc>
                <a:spcPts val="346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350370" y="6202234"/>
            <a:ext cx="4937630" cy="4084766"/>
          </a:xfrm>
          <a:custGeom>
            <a:avLst/>
            <a:gdLst/>
            <a:ahLst/>
            <a:cxnLst/>
            <a:rect r="r" b="b" t="t" l="l"/>
            <a:pathLst>
              <a:path h="4084766" w="4937630">
                <a:moveTo>
                  <a:pt x="0" y="0"/>
                </a:moveTo>
                <a:lnTo>
                  <a:pt x="4937630" y="0"/>
                </a:lnTo>
                <a:lnTo>
                  <a:pt x="4937630" y="4084766"/>
                </a:lnTo>
                <a:lnTo>
                  <a:pt x="0" y="4084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64571" y="3114540"/>
            <a:ext cx="8154535" cy="249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7"/>
              </a:lnSpc>
            </a:pPr>
            <a:r>
              <a:rPr lang="en-US" sz="2892" spc="2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lang="en-US" sz="2892" spc="20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Information</a:t>
            </a:r>
          </a:p>
          <a:p>
            <a:pPr algn="l" marL="515233" indent="-257616" lvl="1">
              <a:lnSpc>
                <a:spcPts val="3818"/>
              </a:lnSpc>
              <a:buFont typeface="Arial"/>
              <a:buChar char="•"/>
            </a:pPr>
            <a:r>
              <a:rPr lang="en-US" sz="238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Processed </a:t>
            </a:r>
          </a:p>
          <a:p>
            <a:pPr algn="l" marL="515233" indent="-257616" lvl="1">
              <a:lnSpc>
                <a:spcPts val="3818"/>
              </a:lnSpc>
              <a:buFont typeface="Arial"/>
              <a:buChar char="•"/>
            </a:pPr>
            <a:r>
              <a:rPr lang="en-US" sz="238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Organized </a:t>
            </a:r>
          </a:p>
          <a:p>
            <a:pPr algn="l" marL="515233" indent="-257616" lvl="1">
              <a:lnSpc>
                <a:spcPts val="3818"/>
              </a:lnSpc>
              <a:buFont typeface="Arial"/>
              <a:buChar char="•"/>
            </a:pPr>
            <a:r>
              <a:rPr lang="en-US" sz="238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Structured </a:t>
            </a:r>
          </a:p>
          <a:p>
            <a:pPr algn="l" marL="515233" indent="-257616" lvl="1">
              <a:lnSpc>
                <a:spcPts val="3818"/>
              </a:lnSpc>
              <a:buFont typeface="Arial"/>
              <a:buChar char="•"/>
            </a:pPr>
            <a:r>
              <a:rPr lang="en-US" sz="238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Given context so it becomes meaningful and useful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652824" y="6892693"/>
            <a:ext cx="3794449" cy="3394307"/>
          </a:xfrm>
          <a:custGeom>
            <a:avLst/>
            <a:gdLst/>
            <a:ahLst/>
            <a:cxnLst/>
            <a:rect r="r" b="b" t="t" l="l"/>
            <a:pathLst>
              <a:path h="3394307" w="3794449">
                <a:moveTo>
                  <a:pt x="0" y="0"/>
                </a:moveTo>
                <a:lnTo>
                  <a:pt x="3794448" y="0"/>
                </a:lnTo>
                <a:lnTo>
                  <a:pt x="3794448" y="3394307"/>
                </a:lnTo>
                <a:lnTo>
                  <a:pt x="0" y="33943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3670" y="-190335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0">
            <a:off x="15484442" y="-14325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43272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27228" y="0"/>
                </a:lnTo>
                <a:lnTo>
                  <a:pt x="432722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47764" y="274902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3072036" y="0"/>
                </a:moveTo>
                <a:lnTo>
                  <a:pt x="0" y="0"/>
                </a:lnTo>
                <a:lnTo>
                  <a:pt x="0" y="1703584"/>
                </a:lnTo>
                <a:lnTo>
                  <a:pt x="3072036" y="1703584"/>
                </a:lnTo>
                <a:lnTo>
                  <a:pt x="30720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4343" y="2255381"/>
            <a:ext cx="8076675" cy="8592207"/>
          </a:xfrm>
          <a:custGeom>
            <a:avLst/>
            <a:gdLst/>
            <a:ahLst/>
            <a:cxnLst/>
            <a:rect r="r" b="b" t="t" l="l"/>
            <a:pathLst>
              <a:path h="8592207" w="8076675">
                <a:moveTo>
                  <a:pt x="0" y="0"/>
                </a:moveTo>
                <a:lnTo>
                  <a:pt x="8076675" y="0"/>
                </a:lnTo>
                <a:lnTo>
                  <a:pt x="8076675" y="8592207"/>
                </a:lnTo>
                <a:lnTo>
                  <a:pt x="0" y="85922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32471" y="743264"/>
            <a:ext cx="12232076" cy="76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0"/>
              </a:lnSpc>
            </a:pPr>
            <a:r>
              <a:rPr lang="en-US" sz="5300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WHAT IS DATE &amp; SECURITY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01018" y="2852511"/>
            <a:ext cx="8120886" cy="149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4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security is the discipline of protecting that data throughout its lifecycle from creation and storage to transmission and deletion.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01018" y="5038725"/>
            <a:ext cx="8120886" cy="987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4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&amp; Security rests on three core principles known as the CIA Triad.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28877" y="6248115"/>
            <a:ext cx="8120886" cy="149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4000"/>
              </a:lnSpc>
              <a:buAutoNum type="arabicPeriod" startAt="1"/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Confidentiality (Only the right people see it)</a:t>
            </a:r>
          </a:p>
          <a:p>
            <a:pPr algn="l" marL="539754" indent="-269877" lvl="1">
              <a:lnSpc>
                <a:spcPts val="4000"/>
              </a:lnSpc>
              <a:buAutoNum type="arabicPeriod" startAt="1"/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Integrity (It stays accurate)</a:t>
            </a:r>
          </a:p>
          <a:p>
            <a:pPr algn="l" marL="539754" indent="-269877" lvl="1">
              <a:lnSpc>
                <a:spcPts val="4000"/>
              </a:lnSpc>
              <a:buAutoNum type="arabicPeriod" startAt="1"/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Availability (It is there when needed)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3678" y="-78914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0">
            <a:off x="15315044" y="-2136314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432722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27227" y="0"/>
                </a:lnTo>
                <a:lnTo>
                  <a:pt x="432722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589632" y="8773751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0" y="1703584"/>
                </a:moveTo>
                <a:lnTo>
                  <a:pt x="3072035" y="1703584"/>
                </a:lnTo>
                <a:lnTo>
                  <a:pt x="3072035" y="0"/>
                </a:lnTo>
                <a:lnTo>
                  <a:pt x="0" y="0"/>
                </a:lnTo>
                <a:lnTo>
                  <a:pt x="0" y="17035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96235" y="662930"/>
            <a:ext cx="854753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DATA &amp; SECURITY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6743" y="1798228"/>
            <a:ext cx="10183312" cy="315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174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                                                                Importance</a:t>
            </a:r>
          </a:p>
          <a:p>
            <a:pPr algn="l">
              <a:lnSpc>
                <a:spcPts val="2793"/>
              </a:lnSpc>
            </a:pPr>
          </a:p>
          <a:p>
            <a:pPr algn="l" marL="376892" indent="-188446" lvl="1">
              <a:lnSpc>
                <a:spcPts val="2793"/>
              </a:lnSpc>
              <a:buFont typeface="Arial"/>
              <a:buChar char="•"/>
            </a:pPr>
            <a:r>
              <a:rPr lang="en-US" sz="17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Protecting data is a fundamental responsibility in the digital world</a:t>
            </a:r>
          </a:p>
          <a:p>
            <a:pPr algn="l" marL="376892" indent="-188446" lvl="1">
              <a:lnSpc>
                <a:spcPts val="2793"/>
              </a:lnSpc>
              <a:buFont typeface="Arial"/>
              <a:buChar char="•"/>
            </a:pPr>
            <a:r>
              <a:rPr lang="en-US" sz="17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Safeguards sensitive information from theft and cyber threats</a:t>
            </a:r>
          </a:p>
          <a:p>
            <a:pPr algn="l" marL="376892" indent="-188446" lvl="1">
              <a:lnSpc>
                <a:spcPts val="2793"/>
              </a:lnSpc>
              <a:buFont typeface="Arial"/>
              <a:buChar char="•"/>
            </a:pPr>
            <a:r>
              <a:rPr lang="en-US" sz="17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Maintains privacy, trust, and business continuity</a:t>
            </a:r>
          </a:p>
          <a:p>
            <a:pPr algn="l" marL="376892" indent="-188446" lvl="1">
              <a:lnSpc>
                <a:spcPts val="2793"/>
              </a:lnSpc>
              <a:buFont typeface="Arial"/>
              <a:buChar char="•"/>
            </a:pPr>
            <a:r>
              <a:rPr lang="en-US" sz="17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Organisations must comply with GDPR and cybersecurity regulations</a:t>
            </a:r>
          </a:p>
          <a:p>
            <a:pPr algn="l" marL="376892" indent="-188446" lvl="1">
              <a:lnSpc>
                <a:spcPts val="2793"/>
              </a:lnSpc>
              <a:buFont typeface="Arial"/>
              <a:buChar char="•"/>
            </a:pPr>
            <a:r>
              <a:rPr lang="en-US" sz="17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single breach causes financial loss and reputational damage</a:t>
            </a:r>
          </a:p>
          <a:p>
            <a:pPr algn="l" marL="376892" indent="-188446" lvl="1">
              <a:lnSpc>
                <a:spcPts val="2793"/>
              </a:lnSpc>
              <a:buFont typeface="Arial"/>
              <a:buChar char="•"/>
            </a:pPr>
            <a:r>
              <a:rPr lang="en-US" sz="174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global breach cost — $4.9 million (IBM, 2024)</a:t>
            </a:r>
          </a:p>
          <a:p>
            <a:pPr algn="l">
              <a:lnSpc>
                <a:spcPts val="279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547415" y="4231127"/>
            <a:ext cx="8114152" cy="322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8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                                                            Benefits</a:t>
            </a:r>
          </a:p>
          <a:p>
            <a:pPr algn="l">
              <a:lnSpc>
                <a:spcPts val="2853"/>
              </a:lnSpc>
            </a:pPr>
          </a:p>
          <a:p>
            <a:pPr algn="l" marL="384993" indent="-192496" lvl="1">
              <a:lnSpc>
                <a:spcPts val="2853"/>
              </a:lnSpc>
              <a:buFont typeface="Arial"/>
              <a:buChar char="•"/>
            </a:pPr>
            <a:r>
              <a:rPr lang="en-US" sz="178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Protects valuable data from cyber threats and theft</a:t>
            </a:r>
          </a:p>
          <a:p>
            <a:pPr algn="l" marL="384993" indent="-192496" lvl="1">
              <a:lnSpc>
                <a:spcPts val="2853"/>
              </a:lnSpc>
              <a:buFont typeface="Arial"/>
              <a:buChar char="•"/>
            </a:pPr>
            <a:r>
              <a:rPr lang="en-US" sz="178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Builds trust between organisations and their customers</a:t>
            </a:r>
          </a:p>
          <a:p>
            <a:pPr algn="l" marL="384993" indent="-192496" lvl="1">
              <a:lnSpc>
                <a:spcPts val="2853"/>
              </a:lnSpc>
              <a:buFont typeface="Arial"/>
              <a:buChar char="•"/>
            </a:pPr>
            <a:r>
              <a:rPr lang="en-US" sz="178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Strengthens organisational reputation in the digital market</a:t>
            </a:r>
          </a:p>
          <a:p>
            <a:pPr algn="l" marL="384993" indent="-192496" lvl="1">
              <a:lnSpc>
                <a:spcPts val="2853"/>
              </a:lnSpc>
              <a:buFont typeface="Arial"/>
              <a:buChar char="•"/>
            </a:pPr>
            <a:r>
              <a:rPr lang="en-US" sz="178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Reduces financial risks from breaches and cyberattacks</a:t>
            </a:r>
          </a:p>
          <a:p>
            <a:pPr algn="l" marL="384993" indent="-192496" lvl="1">
              <a:lnSpc>
                <a:spcPts val="2853"/>
              </a:lnSpc>
              <a:buFont typeface="Arial"/>
              <a:buChar char="•"/>
            </a:pPr>
            <a:r>
              <a:rPr lang="en-US" sz="178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Ensures smooth and reliable business operations</a:t>
            </a:r>
          </a:p>
          <a:p>
            <a:pPr algn="l" marL="384993" indent="-192496" lvl="1">
              <a:lnSpc>
                <a:spcPts val="2853"/>
              </a:lnSpc>
              <a:buFont typeface="Arial"/>
              <a:buChar char="•"/>
            </a:pPr>
            <a:r>
              <a:rPr lang="en-US" sz="178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Creates a secure and trustworthy digital future</a:t>
            </a:r>
          </a:p>
          <a:p>
            <a:pPr algn="l">
              <a:lnSpc>
                <a:spcPts val="285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58112" y="6213203"/>
            <a:ext cx="7389304" cy="386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91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             Best Practice for Ensuring Data &amp; Security</a:t>
            </a:r>
          </a:p>
          <a:p>
            <a:pPr algn="l">
              <a:lnSpc>
                <a:spcPts val="3071"/>
              </a:lnSpc>
            </a:pPr>
          </a:p>
          <a:p>
            <a:pPr algn="l" marL="414414" indent="-207207" lvl="1">
              <a:lnSpc>
                <a:spcPts val="3071"/>
              </a:lnSpc>
              <a:buFont typeface="Arial"/>
              <a:buChar char="•"/>
            </a:pPr>
            <a:r>
              <a:rPr lang="en-US" sz="191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Encrypt sensitive data and control access strictly</a:t>
            </a:r>
          </a:p>
          <a:p>
            <a:pPr algn="l" marL="414414" indent="-207207" lvl="1">
              <a:lnSpc>
                <a:spcPts val="3071"/>
              </a:lnSpc>
              <a:buFont typeface="Arial"/>
              <a:buChar char="•"/>
            </a:pPr>
            <a:r>
              <a:rPr lang="en-US" sz="191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Apply the principle of least privilege at all times</a:t>
            </a:r>
          </a:p>
          <a:p>
            <a:pPr algn="l" marL="414414" indent="-207207" lvl="1">
              <a:lnSpc>
                <a:spcPts val="3071"/>
              </a:lnSpc>
              <a:buFont typeface="Arial"/>
              <a:buChar char="•"/>
            </a:pPr>
            <a:r>
              <a:rPr lang="en-US" sz="191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Regularly test and update all security systems</a:t>
            </a:r>
          </a:p>
          <a:p>
            <a:pPr algn="l" marL="414414" indent="-207207" lvl="1">
              <a:lnSpc>
                <a:spcPts val="3071"/>
              </a:lnSpc>
              <a:buFont typeface="Arial"/>
              <a:buChar char="•"/>
            </a:pPr>
            <a:r>
              <a:rPr lang="en-US" sz="191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Train employees on cybersecurity awareness</a:t>
            </a:r>
          </a:p>
          <a:p>
            <a:pPr algn="l" marL="414414" indent="-207207" lvl="1">
              <a:lnSpc>
                <a:spcPts val="3071"/>
              </a:lnSpc>
              <a:buFont typeface="Arial"/>
              <a:buChar char="•"/>
            </a:pPr>
            <a:r>
              <a:rPr lang="en-US" sz="191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Maintain backup and disaster recovery plans</a:t>
            </a:r>
          </a:p>
          <a:p>
            <a:pPr algn="l" marL="414414" indent="-207207" lvl="1">
              <a:lnSpc>
                <a:spcPts val="3071"/>
              </a:lnSpc>
              <a:buFont typeface="Arial"/>
              <a:buChar char="•"/>
            </a:pPr>
            <a:r>
              <a:rPr lang="en-US" sz="191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Remove unused data to reduce security risks</a:t>
            </a:r>
          </a:p>
          <a:p>
            <a:pPr algn="l" marL="414414" indent="-207207" lvl="1">
              <a:lnSpc>
                <a:spcPts val="3071"/>
              </a:lnSpc>
              <a:buFont typeface="Arial"/>
              <a:buChar char="•"/>
            </a:pPr>
            <a:r>
              <a:rPr lang="en-US" sz="191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Monitor systems continuously in real time</a:t>
            </a:r>
          </a:p>
          <a:p>
            <a:pPr algn="l">
              <a:lnSpc>
                <a:spcPts val="3071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71893" y="309259"/>
            <a:ext cx="1696512" cy="1229971"/>
          </a:xfrm>
          <a:custGeom>
            <a:avLst/>
            <a:gdLst/>
            <a:ahLst/>
            <a:cxnLst/>
            <a:rect r="r" b="b" t="t" l="l"/>
            <a:pathLst>
              <a:path h="1229971" w="1696512">
                <a:moveTo>
                  <a:pt x="0" y="0"/>
                </a:moveTo>
                <a:lnTo>
                  <a:pt x="1696512" y="0"/>
                </a:lnTo>
                <a:lnTo>
                  <a:pt x="1696512" y="1229971"/>
                </a:lnTo>
                <a:lnTo>
                  <a:pt x="0" y="12299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261372" y="7457360"/>
            <a:ext cx="4053672" cy="4151805"/>
          </a:xfrm>
          <a:custGeom>
            <a:avLst/>
            <a:gdLst/>
            <a:ahLst/>
            <a:cxnLst/>
            <a:rect r="r" b="b" t="t" l="l"/>
            <a:pathLst>
              <a:path h="4151805" w="4053672">
                <a:moveTo>
                  <a:pt x="0" y="0"/>
                </a:moveTo>
                <a:lnTo>
                  <a:pt x="4053672" y="0"/>
                </a:lnTo>
                <a:lnTo>
                  <a:pt x="4053672" y="4151806"/>
                </a:lnTo>
                <a:lnTo>
                  <a:pt x="0" y="41518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3670" y="-190335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550076" y="-190335"/>
            <a:ext cx="21335339" cy="10667670"/>
            <a:chOff x="0" y="0"/>
            <a:chExt cx="28447119" cy="14223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461621" y="2338362"/>
            <a:ext cx="1364760" cy="1394021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701159" y="590550"/>
            <a:ext cx="960598" cy="1317528"/>
          </a:xfrm>
          <a:custGeom>
            <a:avLst/>
            <a:gdLst/>
            <a:ahLst/>
            <a:cxnLst/>
            <a:rect r="r" b="b" t="t" l="l"/>
            <a:pathLst>
              <a:path h="1317528" w="960598">
                <a:moveTo>
                  <a:pt x="0" y="0"/>
                </a:moveTo>
                <a:lnTo>
                  <a:pt x="960598" y="0"/>
                </a:lnTo>
                <a:lnTo>
                  <a:pt x="960598" y="1317528"/>
                </a:lnTo>
                <a:lnTo>
                  <a:pt x="0" y="1317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50143" y="6650354"/>
            <a:ext cx="2309157" cy="2607946"/>
          </a:xfrm>
          <a:custGeom>
            <a:avLst/>
            <a:gdLst/>
            <a:ahLst/>
            <a:cxnLst/>
            <a:rect r="r" b="b" t="t" l="l"/>
            <a:pathLst>
              <a:path h="2607946" w="2309157">
                <a:moveTo>
                  <a:pt x="0" y="0"/>
                </a:moveTo>
                <a:lnTo>
                  <a:pt x="2309157" y="0"/>
                </a:lnTo>
                <a:lnTo>
                  <a:pt x="2309157" y="2607946"/>
                </a:lnTo>
                <a:lnTo>
                  <a:pt x="0" y="26079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97928" y="5753711"/>
            <a:ext cx="6579861" cy="3816319"/>
          </a:xfrm>
          <a:custGeom>
            <a:avLst/>
            <a:gdLst/>
            <a:ahLst/>
            <a:cxnLst/>
            <a:rect r="r" b="b" t="t" l="l"/>
            <a:pathLst>
              <a:path h="3816319" w="6579861">
                <a:moveTo>
                  <a:pt x="0" y="0"/>
                </a:moveTo>
                <a:lnTo>
                  <a:pt x="6579861" y="0"/>
                </a:lnTo>
                <a:lnTo>
                  <a:pt x="6579861" y="3816319"/>
                </a:lnTo>
                <a:lnTo>
                  <a:pt x="0" y="38163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6650" y="1041303"/>
            <a:ext cx="7226607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TREATS AND ATTRACTS</a:t>
            </a:r>
          </a:p>
          <a:p>
            <a:pPr algn="ctr">
              <a:lnSpc>
                <a:spcPts val="33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81458" y="1822353"/>
            <a:ext cx="6837719" cy="350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427" indent="-209214" lvl="1">
              <a:lnSpc>
                <a:spcPts val="3100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Phishing &amp; social engineering</a:t>
            </a:r>
          </a:p>
          <a:p>
            <a:pPr algn="l" marL="418427" indent="-209214" lvl="1">
              <a:lnSpc>
                <a:spcPts val="3100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Password attacks </a:t>
            </a:r>
          </a:p>
          <a:p>
            <a:pPr algn="l" marL="418427" indent="-209214" lvl="1">
              <a:lnSpc>
                <a:spcPts val="3100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DDoS attacks </a:t>
            </a:r>
          </a:p>
          <a:p>
            <a:pPr algn="l" marL="418427" indent="-209214" lvl="1">
              <a:lnSpc>
                <a:spcPts val="3100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AI-powered attacks </a:t>
            </a:r>
          </a:p>
          <a:p>
            <a:pPr algn="l" marL="418427" indent="-209214" lvl="1">
              <a:lnSpc>
                <a:spcPts val="3100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Cloud misconfigurationt</a:t>
            </a:r>
          </a:p>
          <a:p>
            <a:pPr algn="l" marL="418427" indent="-209214" lvl="1">
              <a:lnSpc>
                <a:spcPts val="3100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IoT attacks </a:t>
            </a:r>
          </a:p>
          <a:p>
            <a:pPr algn="l" marL="418427" indent="-209214" lvl="1">
              <a:lnSpc>
                <a:spcPts val="3100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Ransomware 2.0</a:t>
            </a:r>
          </a:p>
          <a:p>
            <a:pPr algn="l" marL="418427" indent="-209214" lvl="1">
              <a:lnSpc>
                <a:spcPts val="3100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Insider threats </a:t>
            </a:r>
          </a:p>
          <a:p>
            <a:pPr algn="l" marL="418427" indent="-209214" lvl="1">
              <a:lnSpc>
                <a:spcPts val="3100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Supply chain attackst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0211" y="3044897"/>
            <a:ext cx="722660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 SECURITY TECHNOLOGIES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3908425"/>
            <a:ext cx="8359029" cy="238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CSPM, DLP, CASB — cloud security &amp; data loss prevention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Email Security, MFA, Awareness Training — human layer defence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UEBA, Zero Trust, IAM — identity &amp; behaviour monitoring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EDR, XDR, Backup Systems — endpoint &amp; recovery protection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Detection, Behavioural Analytics, SOAR — automated response</a:t>
            </a:r>
          </a:p>
          <a:p>
            <a:pPr algn="l">
              <a:lnSpc>
                <a:spcPts val="32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05403" y="-95085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570804" y="8619158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0" y="0"/>
                </a:moveTo>
                <a:lnTo>
                  <a:pt x="4327227" y="0"/>
                </a:lnTo>
                <a:lnTo>
                  <a:pt x="4327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402709" y="-2509278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432722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27227" y="0"/>
                </a:lnTo>
                <a:lnTo>
                  <a:pt x="432722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67166" y="-481639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3072035" y="0"/>
                </a:moveTo>
                <a:lnTo>
                  <a:pt x="0" y="0"/>
                </a:lnTo>
                <a:lnTo>
                  <a:pt x="0" y="1703583"/>
                </a:lnTo>
                <a:lnTo>
                  <a:pt x="3072035" y="1703583"/>
                </a:lnTo>
                <a:lnTo>
                  <a:pt x="307203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402709" y="9353550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0" y="1703583"/>
                </a:moveTo>
                <a:lnTo>
                  <a:pt x="3072036" y="1703583"/>
                </a:lnTo>
                <a:lnTo>
                  <a:pt x="3072036" y="0"/>
                </a:lnTo>
                <a:lnTo>
                  <a:pt x="0" y="0"/>
                </a:lnTo>
                <a:lnTo>
                  <a:pt x="0" y="170358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622777" y="6945113"/>
            <a:ext cx="5025279" cy="97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5245789" y="2355379"/>
            <a:ext cx="2788121" cy="278812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5539" lIns="45539" bIns="45539" rIns="45539"/>
            <a:lstStyle/>
            <a:p>
              <a:pPr algn="ctr">
                <a:lnSpc>
                  <a:spcPts val="231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69690" y="7118603"/>
            <a:ext cx="2788121" cy="278812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5539" lIns="45539" bIns="45539" rIns="45539"/>
            <a:lstStyle/>
            <a:p>
              <a:pPr algn="ctr">
                <a:lnSpc>
                  <a:spcPts val="231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20598" y="2450629"/>
            <a:ext cx="2788121" cy="278812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5539" lIns="45539" bIns="45539" rIns="45539"/>
            <a:lstStyle/>
            <a:p>
              <a:pPr algn="ctr">
                <a:lnSpc>
                  <a:spcPts val="231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59327" y="6981140"/>
            <a:ext cx="2788121" cy="278812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5539" lIns="45539" bIns="45539" rIns="45539"/>
            <a:lstStyle/>
            <a:p>
              <a:pPr algn="ctr">
                <a:lnSpc>
                  <a:spcPts val="231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8851" y="1841597"/>
            <a:ext cx="3810986" cy="609032"/>
            <a:chOff x="0" y="0"/>
            <a:chExt cx="1377689" cy="220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7689" cy="220168"/>
            </a:xfrm>
            <a:custGeom>
              <a:avLst/>
              <a:gdLst/>
              <a:ahLst/>
              <a:cxnLst/>
              <a:rect r="r" b="b" t="t" l="l"/>
              <a:pathLst>
                <a:path h="220168" w="1377689">
                  <a:moveTo>
                    <a:pt x="34535" y="0"/>
                  </a:moveTo>
                  <a:lnTo>
                    <a:pt x="1343154" y="0"/>
                  </a:lnTo>
                  <a:cubicBezTo>
                    <a:pt x="1362227" y="0"/>
                    <a:pt x="1377689" y="15462"/>
                    <a:pt x="1377689" y="34535"/>
                  </a:cubicBezTo>
                  <a:lnTo>
                    <a:pt x="1377689" y="185633"/>
                  </a:lnTo>
                  <a:cubicBezTo>
                    <a:pt x="1377689" y="204706"/>
                    <a:pt x="1362227" y="220168"/>
                    <a:pt x="1343154" y="220168"/>
                  </a:cubicBezTo>
                  <a:lnTo>
                    <a:pt x="34535" y="220168"/>
                  </a:lnTo>
                  <a:cubicBezTo>
                    <a:pt x="25376" y="220168"/>
                    <a:pt x="16592" y="216529"/>
                    <a:pt x="10115" y="210053"/>
                  </a:cubicBezTo>
                  <a:cubicBezTo>
                    <a:pt x="3639" y="203576"/>
                    <a:pt x="0" y="194792"/>
                    <a:pt x="0" y="185633"/>
                  </a:cubicBezTo>
                  <a:lnTo>
                    <a:pt x="0" y="34535"/>
                  </a:lnTo>
                  <a:cubicBezTo>
                    <a:pt x="0" y="25376"/>
                    <a:pt x="3639" y="16592"/>
                    <a:pt x="10115" y="10115"/>
                  </a:cubicBezTo>
                  <a:cubicBezTo>
                    <a:pt x="16592" y="3639"/>
                    <a:pt x="25376" y="0"/>
                    <a:pt x="34535" y="0"/>
                  </a:cubicBezTo>
                  <a:close/>
                </a:path>
              </a:pathLst>
            </a:custGeom>
            <a:solidFill>
              <a:srgbClr val="ADE46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377689" cy="305893"/>
            </a:xfrm>
            <a:prstGeom prst="rect">
              <a:avLst/>
            </a:prstGeom>
          </p:spPr>
          <p:txBody>
            <a:bodyPr anchor="ctr" rtlCol="false" tIns="56703" lIns="56703" bIns="56703" rIns="56703"/>
            <a:lstStyle/>
            <a:p>
              <a:pPr algn="l" marL="0" indent="0" lvl="0">
                <a:lnSpc>
                  <a:spcPts val="31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58573" y="6570357"/>
            <a:ext cx="3810986" cy="609032"/>
            <a:chOff x="0" y="0"/>
            <a:chExt cx="1377689" cy="2201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77689" cy="220168"/>
            </a:xfrm>
            <a:custGeom>
              <a:avLst/>
              <a:gdLst/>
              <a:ahLst/>
              <a:cxnLst/>
              <a:rect r="r" b="b" t="t" l="l"/>
              <a:pathLst>
                <a:path h="220168" w="1377689">
                  <a:moveTo>
                    <a:pt x="34535" y="0"/>
                  </a:moveTo>
                  <a:lnTo>
                    <a:pt x="1343154" y="0"/>
                  </a:lnTo>
                  <a:cubicBezTo>
                    <a:pt x="1362227" y="0"/>
                    <a:pt x="1377689" y="15462"/>
                    <a:pt x="1377689" y="34535"/>
                  </a:cubicBezTo>
                  <a:lnTo>
                    <a:pt x="1377689" y="185633"/>
                  </a:lnTo>
                  <a:cubicBezTo>
                    <a:pt x="1377689" y="204706"/>
                    <a:pt x="1362227" y="220168"/>
                    <a:pt x="1343154" y="220168"/>
                  </a:cubicBezTo>
                  <a:lnTo>
                    <a:pt x="34535" y="220168"/>
                  </a:lnTo>
                  <a:cubicBezTo>
                    <a:pt x="25376" y="220168"/>
                    <a:pt x="16592" y="216529"/>
                    <a:pt x="10115" y="210053"/>
                  </a:cubicBezTo>
                  <a:cubicBezTo>
                    <a:pt x="3639" y="203576"/>
                    <a:pt x="0" y="194792"/>
                    <a:pt x="0" y="185633"/>
                  </a:cubicBezTo>
                  <a:lnTo>
                    <a:pt x="0" y="34535"/>
                  </a:lnTo>
                  <a:cubicBezTo>
                    <a:pt x="0" y="25376"/>
                    <a:pt x="3639" y="16592"/>
                    <a:pt x="10115" y="10115"/>
                  </a:cubicBezTo>
                  <a:cubicBezTo>
                    <a:pt x="16592" y="3639"/>
                    <a:pt x="25376" y="0"/>
                    <a:pt x="34535" y="0"/>
                  </a:cubicBezTo>
                  <a:close/>
                </a:path>
              </a:pathLst>
            </a:custGeom>
            <a:solidFill>
              <a:srgbClr val="FFDA68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377689" cy="305893"/>
            </a:xfrm>
            <a:prstGeom prst="rect">
              <a:avLst/>
            </a:prstGeom>
          </p:spPr>
          <p:txBody>
            <a:bodyPr anchor="ctr" rtlCol="false" tIns="56703" lIns="56703" bIns="56703" rIns="56703"/>
            <a:lstStyle/>
            <a:p>
              <a:pPr algn="l" marL="0" indent="0" lvl="0">
                <a:lnSpc>
                  <a:spcPts val="31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26710" y="7059413"/>
            <a:ext cx="928888" cy="928888"/>
            <a:chOff x="0" y="0"/>
            <a:chExt cx="1238517" cy="123851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38517" cy="123851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A68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14444" lIns="14444" bIns="14444" rIns="14444"/>
              <a:lstStyle/>
              <a:p>
                <a:pPr algn="ctr">
                  <a:lnSpc>
                    <a:spcPts val="781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213094" y="340809"/>
              <a:ext cx="700859" cy="556899"/>
            </a:xfrm>
            <a:custGeom>
              <a:avLst/>
              <a:gdLst/>
              <a:ahLst/>
              <a:cxnLst/>
              <a:rect r="r" b="b" t="t" l="l"/>
              <a:pathLst>
                <a:path h="556899" w="700859">
                  <a:moveTo>
                    <a:pt x="0" y="0"/>
                  </a:moveTo>
                  <a:lnTo>
                    <a:pt x="700859" y="0"/>
                  </a:lnTo>
                  <a:lnTo>
                    <a:pt x="700859" y="556899"/>
                  </a:lnTo>
                  <a:lnTo>
                    <a:pt x="0" y="556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9288" t="-35085" r="-19379" b="-3942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78839" y="2237418"/>
            <a:ext cx="928888" cy="928888"/>
            <a:chOff x="0" y="0"/>
            <a:chExt cx="1238517" cy="1238517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238517" cy="1238517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EC4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14444" lIns="14444" bIns="14444" rIns="14444"/>
              <a:lstStyle/>
              <a:p>
                <a:pPr algn="ctr">
                  <a:lnSpc>
                    <a:spcPts val="781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242646" y="328379"/>
              <a:ext cx="753225" cy="581759"/>
            </a:xfrm>
            <a:custGeom>
              <a:avLst/>
              <a:gdLst/>
              <a:ahLst/>
              <a:cxnLst/>
              <a:rect r="r" b="b" t="t" l="l"/>
              <a:pathLst>
                <a:path h="581759" w="753225">
                  <a:moveTo>
                    <a:pt x="0" y="0"/>
                  </a:moveTo>
                  <a:lnTo>
                    <a:pt x="753225" y="0"/>
                  </a:lnTo>
                  <a:lnTo>
                    <a:pt x="753225" y="581759"/>
                  </a:lnTo>
                  <a:lnTo>
                    <a:pt x="0" y="581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32771" t="-57259" r="-33149" b="-5756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9327" y="7059413"/>
            <a:ext cx="928888" cy="928888"/>
            <a:chOff x="0" y="0"/>
            <a:chExt cx="1238517" cy="1238517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238517" cy="1238517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4BDFF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14444" lIns="14444" bIns="14444" rIns="14444"/>
              <a:lstStyle/>
              <a:p>
                <a:pPr algn="ctr">
                  <a:lnSpc>
                    <a:spcPts val="781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413466" y="276271"/>
              <a:ext cx="411586" cy="685976"/>
            </a:xfrm>
            <a:custGeom>
              <a:avLst/>
              <a:gdLst/>
              <a:ahLst/>
              <a:cxnLst/>
              <a:rect r="r" b="b" t="t" l="l"/>
              <a:pathLst>
                <a:path h="685976" w="411586">
                  <a:moveTo>
                    <a:pt x="0" y="0"/>
                  </a:moveTo>
                  <a:lnTo>
                    <a:pt x="411585" y="0"/>
                  </a:lnTo>
                  <a:lnTo>
                    <a:pt x="411585" y="685976"/>
                  </a:lnTo>
                  <a:lnTo>
                    <a:pt x="0" y="685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74662" t="-29956" r="-80215" b="-2297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100045" y="2237418"/>
            <a:ext cx="928888" cy="928888"/>
            <a:chOff x="0" y="0"/>
            <a:chExt cx="1238517" cy="1238517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238517" cy="1238517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DE466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14444" lIns="14444" bIns="14444" rIns="14444"/>
              <a:lstStyle/>
              <a:p>
                <a:pPr algn="ctr">
                  <a:lnSpc>
                    <a:spcPts val="781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324564" y="237926"/>
              <a:ext cx="589389" cy="736736"/>
            </a:xfrm>
            <a:custGeom>
              <a:avLst/>
              <a:gdLst/>
              <a:ahLst/>
              <a:cxnLst/>
              <a:rect r="r" b="b" t="t" l="l"/>
              <a:pathLst>
                <a:path h="736736" w="589389">
                  <a:moveTo>
                    <a:pt x="0" y="0"/>
                  </a:moveTo>
                  <a:lnTo>
                    <a:pt x="589389" y="0"/>
                  </a:lnTo>
                  <a:lnTo>
                    <a:pt x="589389" y="736736"/>
                  </a:lnTo>
                  <a:lnTo>
                    <a:pt x="0" y="73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74928" t="-48075" r="-66051" b="-44708"/>
              </a:stretch>
            </a:blipFill>
          </p:spPr>
        </p:sp>
      </p:grpSp>
      <p:sp>
        <p:nvSpPr>
          <p:cNvPr name="Freeform 48" id="48"/>
          <p:cNvSpPr/>
          <p:nvPr/>
        </p:nvSpPr>
        <p:spPr>
          <a:xfrm>
            <a:off x="8397910" y="3012517"/>
            <a:ext cx="1358689" cy="312611"/>
          </a:xfrm>
          <a:custGeom>
            <a:avLst/>
            <a:gdLst/>
            <a:ahLst/>
            <a:cxnLst/>
            <a:rect r="r" b="b" t="t" l="l"/>
            <a:pathLst>
              <a:path h="312611" w="1358689">
                <a:moveTo>
                  <a:pt x="0" y="312611"/>
                </a:moveTo>
                <a:quadBezTo>
                  <a:pt x="679344" y="-312610"/>
                  <a:pt x="1358688" y="312611"/>
                </a:quadBezTo>
              </a:path>
            </a:pathLst>
          </a:custGeom>
          <a:ln cap="rnd" w="38100">
            <a:solidFill>
              <a:srgbClr val="000000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Freeform 49" id="49"/>
          <p:cNvSpPr/>
          <p:nvPr/>
        </p:nvSpPr>
        <p:spPr>
          <a:xfrm>
            <a:off x="8464656" y="9272317"/>
            <a:ext cx="1358689" cy="312611"/>
          </a:xfrm>
          <a:custGeom>
            <a:avLst/>
            <a:gdLst/>
            <a:ahLst/>
            <a:cxnLst/>
            <a:rect r="r" b="b" t="t" l="l"/>
            <a:pathLst>
              <a:path h="312611" w="1358689">
                <a:moveTo>
                  <a:pt x="1358688" y="0"/>
                </a:moveTo>
                <a:quadBezTo>
                  <a:pt x="679344" y="625221"/>
                  <a:pt x="0" y="0"/>
                </a:quadBezTo>
              </a:path>
            </a:pathLst>
          </a:custGeom>
          <a:ln cap="rnd" w="38100">
            <a:solidFill>
              <a:srgbClr val="000000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Freeform 50" id="50"/>
          <p:cNvSpPr/>
          <p:nvPr/>
        </p:nvSpPr>
        <p:spPr>
          <a:xfrm>
            <a:off x="6327239" y="5516184"/>
            <a:ext cx="312611" cy="1358689"/>
          </a:xfrm>
          <a:custGeom>
            <a:avLst/>
            <a:gdLst/>
            <a:ahLst/>
            <a:cxnLst/>
            <a:rect r="r" b="b" t="t" l="l"/>
            <a:pathLst>
              <a:path h="1358689" w="312611">
                <a:moveTo>
                  <a:pt x="312611" y="1358689"/>
                </a:moveTo>
                <a:quadBezTo>
                  <a:pt x="-312610" y="679345"/>
                  <a:pt x="312611" y="0"/>
                </a:quadBezTo>
              </a:path>
            </a:pathLst>
          </a:custGeom>
          <a:ln cap="rnd" w="38100">
            <a:solidFill>
              <a:srgbClr val="000000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Freeform 51" id="51"/>
          <p:cNvSpPr/>
          <p:nvPr/>
        </p:nvSpPr>
        <p:spPr>
          <a:xfrm>
            <a:off x="11763969" y="5428576"/>
            <a:ext cx="312611" cy="1358689"/>
          </a:xfrm>
          <a:custGeom>
            <a:avLst/>
            <a:gdLst/>
            <a:ahLst/>
            <a:cxnLst/>
            <a:rect r="r" b="b" t="t" l="l"/>
            <a:pathLst>
              <a:path h="1358689" w="312611">
                <a:moveTo>
                  <a:pt x="0" y="0"/>
                </a:moveTo>
                <a:quadBezTo>
                  <a:pt x="625221" y="679345"/>
                  <a:pt x="0" y="1358689"/>
                </a:quadBezTo>
              </a:path>
            </a:pathLst>
          </a:custGeom>
          <a:ln cap="rnd" w="38100">
            <a:solidFill>
              <a:srgbClr val="000000"/>
            </a:solidFill>
            <a:prstDash val="sysDash"/>
            <a:headEnd type="oval" len="lg" w="lg"/>
            <a:tailEnd type="arrow" len="sm" w="med"/>
          </a:ln>
        </p:spPr>
      </p:sp>
      <p:grpSp>
        <p:nvGrpSpPr>
          <p:cNvPr name="Group 52" id="52"/>
          <p:cNvGrpSpPr/>
          <p:nvPr/>
        </p:nvGrpSpPr>
        <p:grpSpPr>
          <a:xfrm rot="0">
            <a:off x="12908718" y="2050863"/>
            <a:ext cx="3810986" cy="609032"/>
            <a:chOff x="0" y="0"/>
            <a:chExt cx="1377689" cy="2201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77689" cy="220168"/>
            </a:xfrm>
            <a:custGeom>
              <a:avLst/>
              <a:gdLst/>
              <a:ahLst/>
              <a:cxnLst/>
              <a:rect r="r" b="b" t="t" l="l"/>
              <a:pathLst>
                <a:path h="220168" w="1377689">
                  <a:moveTo>
                    <a:pt x="34535" y="0"/>
                  </a:moveTo>
                  <a:lnTo>
                    <a:pt x="1343154" y="0"/>
                  </a:lnTo>
                  <a:cubicBezTo>
                    <a:pt x="1362227" y="0"/>
                    <a:pt x="1377689" y="15462"/>
                    <a:pt x="1377689" y="34535"/>
                  </a:cubicBezTo>
                  <a:lnTo>
                    <a:pt x="1377689" y="185633"/>
                  </a:lnTo>
                  <a:cubicBezTo>
                    <a:pt x="1377689" y="204706"/>
                    <a:pt x="1362227" y="220168"/>
                    <a:pt x="1343154" y="220168"/>
                  </a:cubicBezTo>
                  <a:lnTo>
                    <a:pt x="34535" y="220168"/>
                  </a:lnTo>
                  <a:cubicBezTo>
                    <a:pt x="25376" y="220168"/>
                    <a:pt x="16592" y="216529"/>
                    <a:pt x="10115" y="210053"/>
                  </a:cubicBezTo>
                  <a:cubicBezTo>
                    <a:pt x="3639" y="203576"/>
                    <a:pt x="0" y="194792"/>
                    <a:pt x="0" y="185633"/>
                  </a:cubicBezTo>
                  <a:lnTo>
                    <a:pt x="0" y="34535"/>
                  </a:lnTo>
                  <a:cubicBezTo>
                    <a:pt x="0" y="25376"/>
                    <a:pt x="3639" y="16592"/>
                    <a:pt x="10115" y="10115"/>
                  </a:cubicBezTo>
                  <a:cubicBezTo>
                    <a:pt x="16592" y="3639"/>
                    <a:pt x="25376" y="0"/>
                    <a:pt x="34535" y="0"/>
                  </a:cubicBezTo>
                  <a:close/>
                </a:path>
              </a:pathLst>
            </a:custGeom>
            <a:solidFill>
              <a:srgbClr val="FFBEC4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85725"/>
              <a:ext cx="1377689" cy="305893"/>
            </a:xfrm>
            <a:prstGeom prst="rect">
              <a:avLst/>
            </a:prstGeom>
          </p:spPr>
          <p:txBody>
            <a:bodyPr anchor="ctr" rtlCol="false" tIns="56703" lIns="56703" bIns="56703" rIns="56703"/>
            <a:lstStyle/>
            <a:p>
              <a:pPr algn="l" marL="0" indent="0" lvl="0">
                <a:lnSpc>
                  <a:spcPts val="31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819529" y="6787265"/>
            <a:ext cx="3810986" cy="609032"/>
            <a:chOff x="0" y="0"/>
            <a:chExt cx="1377689" cy="2201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77689" cy="220168"/>
            </a:xfrm>
            <a:custGeom>
              <a:avLst/>
              <a:gdLst/>
              <a:ahLst/>
              <a:cxnLst/>
              <a:rect r="r" b="b" t="t" l="l"/>
              <a:pathLst>
                <a:path h="220168" w="1377689">
                  <a:moveTo>
                    <a:pt x="34535" y="0"/>
                  </a:moveTo>
                  <a:lnTo>
                    <a:pt x="1343154" y="0"/>
                  </a:lnTo>
                  <a:cubicBezTo>
                    <a:pt x="1362227" y="0"/>
                    <a:pt x="1377689" y="15462"/>
                    <a:pt x="1377689" y="34535"/>
                  </a:cubicBezTo>
                  <a:lnTo>
                    <a:pt x="1377689" y="185633"/>
                  </a:lnTo>
                  <a:cubicBezTo>
                    <a:pt x="1377689" y="204706"/>
                    <a:pt x="1362227" y="220168"/>
                    <a:pt x="1343154" y="220168"/>
                  </a:cubicBezTo>
                  <a:lnTo>
                    <a:pt x="34535" y="220168"/>
                  </a:lnTo>
                  <a:cubicBezTo>
                    <a:pt x="25376" y="220168"/>
                    <a:pt x="16592" y="216529"/>
                    <a:pt x="10115" y="210053"/>
                  </a:cubicBezTo>
                  <a:cubicBezTo>
                    <a:pt x="3639" y="203576"/>
                    <a:pt x="0" y="194792"/>
                    <a:pt x="0" y="185633"/>
                  </a:cubicBezTo>
                  <a:lnTo>
                    <a:pt x="0" y="34535"/>
                  </a:lnTo>
                  <a:cubicBezTo>
                    <a:pt x="0" y="25376"/>
                    <a:pt x="3639" y="16592"/>
                    <a:pt x="10115" y="10115"/>
                  </a:cubicBezTo>
                  <a:cubicBezTo>
                    <a:pt x="16592" y="3639"/>
                    <a:pt x="25376" y="0"/>
                    <a:pt x="34535" y="0"/>
                  </a:cubicBezTo>
                  <a:close/>
                </a:path>
              </a:pathLst>
            </a:custGeom>
            <a:solidFill>
              <a:srgbClr val="D4BDFF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85725"/>
              <a:ext cx="1377689" cy="305893"/>
            </a:xfrm>
            <a:prstGeom prst="rect">
              <a:avLst/>
            </a:prstGeom>
          </p:spPr>
          <p:txBody>
            <a:bodyPr anchor="ctr" rtlCol="false" tIns="56703" lIns="56703" bIns="56703" rIns="56703"/>
            <a:lstStyle/>
            <a:p>
              <a:pPr algn="l" marL="0" indent="0" lvl="0">
                <a:lnSpc>
                  <a:spcPts val="31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5712075" y="573367"/>
            <a:ext cx="945712" cy="1032154"/>
          </a:xfrm>
          <a:custGeom>
            <a:avLst/>
            <a:gdLst/>
            <a:ahLst/>
            <a:cxnLst/>
            <a:rect r="r" b="b" t="t" l="l"/>
            <a:pathLst>
              <a:path h="1032154" w="945712">
                <a:moveTo>
                  <a:pt x="0" y="0"/>
                </a:moveTo>
                <a:lnTo>
                  <a:pt x="945712" y="0"/>
                </a:lnTo>
                <a:lnTo>
                  <a:pt x="945712" y="1032155"/>
                </a:lnTo>
                <a:lnTo>
                  <a:pt x="0" y="103215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7599543" y="4600093"/>
            <a:ext cx="2579296" cy="2579296"/>
          </a:xfrm>
          <a:custGeom>
            <a:avLst/>
            <a:gdLst/>
            <a:ahLst/>
            <a:cxnLst/>
            <a:rect r="r" b="b" t="t" l="l"/>
            <a:pathLst>
              <a:path h="2579296" w="2579296">
                <a:moveTo>
                  <a:pt x="0" y="0"/>
                </a:moveTo>
                <a:lnTo>
                  <a:pt x="2579296" y="0"/>
                </a:lnTo>
                <a:lnTo>
                  <a:pt x="2579296" y="2579296"/>
                </a:lnTo>
                <a:lnTo>
                  <a:pt x="0" y="25792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5984568" y="869100"/>
            <a:ext cx="8740454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3200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TYPES OF DATA SECURITY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58573" y="1882862"/>
            <a:ext cx="3048667" cy="52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3"/>
              </a:lnSpc>
            </a:pPr>
            <a:r>
              <a:rPr lang="en-US" sz="3487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Recovery and Backup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754168" y="6611622"/>
            <a:ext cx="3048667" cy="52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3"/>
              </a:lnSpc>
            </a:pPr>
            <a:r>
              <a:rPr lang="en-US" sz="3487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Au</a:t>
            </a:r>
            <a:r>
              <a:rPr lang="en-US" sz="3487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thorization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492877" y="7782504"/>
            <a:ext cx="816037" cy="13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1"/>
              </a:lnSpc>
              <a:spcBef>
                <a:spcPct val="0"/>
              </a:spcBef>
            </a:pPr>
            <a:r>
              <a:rPr lang="en-US" sz="7934" spc="-1333" strike="noStrike" u="none">
                <a:solidFill>
                  <a:srgbClr val="FFDA68"/>
                </a:solidFill>
                <a:latin typeface="Lazydog"/>
                <a:ea typeface="Lazydog"/>
                <a:cs typeface="Lazydog"/>
                <a:sym typeface="Lazydog"/>
              </a:rPr>
              <a:t>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107727" y="3114530"/>
            <a:ext cx="816037" cy="13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1"/>
              </a:lnSpc>
              <a:spcBef>
                <a:spcPct val="0"/>
              </a:spcBef>
            </a:pPr>
            <a:r>
              <a:rPr lang="en-US" sz="7934" spc="-1333" strike="noStrike" u="none">
                <a:solidFill>
                  <a:srgbClr val="FFBEC4"/>
                </a:solidFill>
                <a:latin typeface="Lazydog"/>
                <a:ea typeface="Lazydog"/>
                <a:cs typeface="Lazydog"/>
                <a:sym typeface="Lazydog"/>
              </a:rPr>
              <a:t>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045369" y="7782504"/>
            <a:ext cx="816037" cy="13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1"/>
              </a:lnSpc>
              <a:spcBef>
                <a:spcPct val="0"/>
              </a:spcBef>
            </a:pPr>
            <a:r>
              <a:rPr lang="en-US" sz="7934" spc="-1333" strike="noStrike" u="none">
                <a:solidFill>
                  <a:srgbClr val="D4BDFF"/>
                </a:solidFill>
                <a:latin typeface="Lazydog"/>
                <a:ea typeface="Lazydog"/>
                <a:cs typeface="Lazydog"/>
                <a:sym typeface="Lazydog"/>
              </a:rPr>
              <a:t>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255597" y="3148650"/>
            <a:ext cx="804378" cy="132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1"/>
              </a:lnSpc>
            </a:pPr>
            <a:r>
              <a:rPr lang="en-US" sz="7934" spc="-1333">
                <a:solidFill>
                  <a:srgbClr val="ADE466"/>
                </a:solidFill>
                <a:latin typeface="Lazydog"/>
                <a:ea typeface="Lazydog"/>
                <a:cs typeface="Lazydog"/>
                <a:sym typeface="Lazydog"/>
              </a:rPr>
              <a:t>1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289878" y="2092128"/>
            <a:ext cx="3048667" cy="52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3"/>
              </a:lnSpc>
            </a:pPr>
            <a:r>
              <a:rPr lang="en-US" sz="3487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Encryp</a:t>
            </a:r>
            <a:r>
              <a:rPr lang="en-US" sz="3487">
                <a:solidFill>
                  <a:srgbClr val="242424"/>
                </a:solidFill>
                <a:latin typeface="Ballpoint"/>
                <a:ea typeface="Ballpoint"/>
                <a:cs typeface="Ballpoint"/>
                <a:sym typeface="Ballpoint"/>
              </a:rPr>
              <a:t>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484641" y="6857930"/>
            <a:ext cx="2480763" cy="47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76"/>
              </a:lnSpc>
            </a:pPr>
            <a:r>
              <a:rPr lang="en-US" sz="368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Authentication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3670" y="-190335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0">
            <a:off x="15484442" y="-1782498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43272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27228" y="0"/>
                </a:lnTo>
                <a:lnTo>
                  <a:pt x="432722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68478" y="-190335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3072036" y="0"/>
                </a:moveTo>
                <a:lnTo>
                  <a:pt x="0" y="0"/>
                </a:lnTo>
                <a:lnTo>
                  <a:pt x="0" y="1703584"/>
                </a:lnTo>
                <a:lnTo>
                  <a:pt x="3072036" y="1703584"/>
                </a:lnTo>
                <a:lnTo>
                  <a:pt x="30720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5484442" y="8810378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0" y="1703584"/>
                </a:moveTo>
                <a:lnTo>
                  <a:pt x="3072036" y="1703584"/>
                </a:lnTo>
                <a:lnTo>
                  <a:pt x="3072036" y="0"/>
                </a:lnTo>
                <a:lnTo>
                  <a:pt x="0" y="0"/>
                </a:lnTo>
                <a:lnTo>
                  <a:pt x="0" y="17035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35402" y="1028700"/>
            <a:ext cx="5493258" cy="8229600"/>
          </a:xfrm>
          <a:custGeom>
            <a:avLst/>
            <a:gdLst/>
            <a:ahLst/>
            <a:cxnLst/>
            <a:rect r="r" b="b" t="t" l="l"/>
            <a:pathLst>
              <a:path h="8229600" w="5493258">
                <a:moveTo>
                  <a:pt x="0" y="0"/>
                </a:moveTo>
                <a:lnTo>
                  <a:pt x="5493258" y="0"/>
                </a:lnTo>
                <a:lnTo>
                  <a:pt x="54932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7473" y="1366305"/>
            <a:ext cx="743566" cy="905408"/>
          </a:xfrm>
          <a:custGeom>
            <a:avLst/>
            <a:gdLst/>
            <a:ahLst/>
            <a:cxnLst/>
            <a:rect r="r" b="b" t="t" l="l"/>
            <a:pathLst>
              <a:path h="905408" w="743566">
                <a:moveTo>
                  <a:pt x="0" y="0"/>
                </a:moveTo>
                <a:lnTo>
                  <a:pt x="743566" y="0"/>
                </a:lnTo>
                <a:lnTo>
                  <a:pt x="743566" y="905408"/>
                </a:lnTo>
                <a:lnTo>
                  <a:pt x="0" y="9054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785612"/>
            <a:ext cx="3678512" cy="2501388"/>
          </a:xfrm>
          <a:custGeom>
            <a:avLst/>
            <a:gdLst/>
            <a:ahLst/>
            <a:cxnLst/>
            <a:rect r="r" b="b" t="t" l="l"/>
            <a:pathLst>
              <a:path h="2501388" w="3678512">
                <a:moveTo>
                  <a:pt x="0" y="0"/>
                </a:moveTo>
                <a:lnTo>
                  <a:pt x="3678512" y="0"/>
                </a:lnTo>
                <a:lnTo>
                  <a:pt x="3678512" y="2501388"/>
                </a:lnTo>
                <a:lnTo>
                  <a:pt x="0" y="2501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1828534"/>
            <a:ext cx="722660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7540" y="2649108"/>
            <a:ext cx="8010614" cy="417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216" indent="-225108" lvl="1">
              <a:lnSpc>
                <a:spcPts val="3336"/>
              </a:lnSpc>
              <a:buFont typeface="Arial"/>
              <a:buChar char="•"/>
            </a:pPr>
            <a:r>
              <a:rPr lang="en-US" sz="20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Cyber threats grow in scale and sophistication every year</a:t>
            </a:r>
          </a:p>
          <a:p>
            <a:pPr algn="l">
              <a:lnSpc>
                <a:spcPts val="3336"/>
              </a:lnSpc>
            </a:pPr>
          </a:p>
          <a:p>
            <a:pPr algn="l" marL="450216" indent="-225108" lvl="1">
              <a:lnSpc>
                <a:spcPts val="3336"/>
              </a:lnSpc>
              <a:buFont typeface="Arial"/>
              <a:buChar char="•"/>
            </a:pPr>
            <a:r>
              <a:rPr lang="en-US" sz="20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multi-layered defence strategy is essential</a:t>
            </a:r>
          </a:p>
          <a:p>
            <a:pPr algn="l">
              <a:lnSpc>
                <a:spcPts val="3336"/>
              </a:lnSpc>
            </a:pPr>
          </a:p>
          <a:p>
            <a:pPr algn="l" marL="450216" indent="-225108" lvl="1">
              <a:lnSpc>
                <a:spcPts val="3336"/>
              </a:lnSpc>
              <a:buFont typeface="Arial"/>
              <a:buChar char="•"/>
            </a:pPr>
            <a:r>
              <a:rPr lang="en-US" sz="20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Right technologies + best practices = strong protection</a:t>
            </a:r>
          </a:p>
          <a:p>
            <a:pPr algn="l">
              <a:lnSpc>
                <a:spcPts val="3336"/>
              </a:lnSpc>
            </a:pPr>
          </a:p>
          <a:p>
            <a:pPr algn="l" marL="450216" indent="-225108" lvl="1">
              <a:lnSpc>
                <a:spcPts val="3336"/>
              </a:lnSpc>
              <a:buFont typeface="Arial"/>
              <a:buChar char="•"/>
            </a:pPr>
            <a:r>
              <a:rPr lang="en-US" sz="20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security is an ongoing commitment, not a one-time fix</a:t>
            </a:r>
          </a:p>
          <a:p>
            <a:pPr algn="l">
              <a:lnSpc>
                <a:spcPts val="3336"/>
              </a:lnSpc>
            </a:pPr>
          </a:p>
          <a:p>
            <a:pPr algn="l" marL="450216" indent="-225108" lvl="1">
              <a:lnSpc>
                <a:spcPts val="3336"/>
              </a:lnSpc>
              <a:buFont typeface="Arial"/>
              <a:buChar char="•"/>
            </a:pPr>
            <a:r>
              <a:rPr lang="en-US" sz="20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Protects data, people, trust, and organisational integrity</a:t>
            </a:r>
          </a:p>
          <a:p>
            <a:pPr algn="l">
              <a:lnSpc>
                <a:spcPts val="333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3670" y="-190335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523670" y="76047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0" y="0"/>
                </a:moveTo>
                <a:lnTo>
                  <a:pt x="4327228" y="0"/>
                </a:lnTo>
                <a:lnTo>
                  <a:pt x="4327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484442" y="-14325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43272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27228" y="0"/>
                </a:lnTo>
                <a:lnTo>
                  <a:pt x="432722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47764" y="274902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3072036" y="0"/>
                </a:moveTo>
                <a:lnTo>
                  <a:pt x="0" y="0"/>
                </a:lnTo>
                <a:lnTo>
                  <a:pt x="0" y="1703584"/>
                </a:lnTo>
                <a:lnTo>
                  <a:pt x="3072036" y="1703584"/>
                </a:lnTo>
                <a:lnTo>
                  <a:pt x="30720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08691" y="6526619"/>
            <a:ext cx="4079309" cy="3760381"/>
          </a:xfrm>
          <a:custGeom>
            <a:avLst/>
            <a:gdLst/>
            <a:ahLst/>
            <a:cxnLst/>
            <a:rect r="r" b="b" t="t" l="l"/>
            <a:pathLst>
              <a:path h="3760381" w="4079309">
                <a:moveTo>
                  <a:pt x="0" y="0"/>
                </a:moveTo>
                <a:lnTo>
                  <a:pt x="4079309" y="0"/>
                </a:lnTo>
                <a:lnTo>
                  <a:pt x="4079309" y="3760381"/>
                </a:lnTo>
                <a:lnTo>
                  <a:pt x="0" y="3760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6412576"/>
            <a:ext cx="3254516" cy="3874424"/>
          </a:xfrm>
          <a:custGeom>
            <a:avLst/>
            <a:gdLst/>
            <a:ahLst/>
            <a:cxnLst/>
            <a:rect r="r" b="b" t="t" l="l"/>
            <a:pathLst>
              <a:path h="3874424" w="3254516">
                <a:moveTo>
                  <a:pt x="0" y="0"/>
                </a:moveTo>
                <a:lnTo>
                  <a:pt x="3254516" y="0"/>
                </a:lnTo>
                <a:lnTo>
                  <a:pt x="3254516" y="3874424"/>
                </a:lnTo>
                <a:lnTo>
                  <a:pt x="0" y="38744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24272" y="1559386"/>
            <a:ext cx="766736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REFERENCE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42619" y="2731054"/>
            <a:ext cx="13241823" cy="4016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4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IBM Security. Cost of a Data Breach Report 2025. IBM Corporation, 2025</a:t>
            </a:r>
          </a:p>
          <a:p>
            <a:pPr algn="l">
              <a:lnSpc>
                <a:spcPts val="4000"/>
              </a:lnSpc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[ https://www.ibm.com/reports/data-breach ]</a:t>
            </a:r>
          </a:p>
          <a:p>
            <a:pPr algn="l">
              <a:lnSpc>
                <a:spcPts val="4000"/>
              </a:lnSpc>
            </a:pPr>
          </a:p>
          <a:p>
            <a:pPr algn="l" marL="539754" indent="-269877" lvl="1">
              <a:lnSpc>
                <a:spcPts val="4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IBM Security. X-Force Threat Intelligence Index 2026. IBM Corporation, 2026</a:t>
            </a:r>
          </a:p>
          <a:p>
            <a:pPr algn="l">
              <a:lnSpc>
                <a:spcPts val="4000"/>
              </a:lnSpc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[ https://www.ibm.com/reports/threat-intelligence ]</a:t>
            </a:r>
          </a:p>
          <a:p>
            <a:pPr algn="l">
              <a:lnSpc>
                <a:spcPts val="4000"/>
              </a:lnSpc>
            </a:pPr>
          </a:p>
          <a:p>
            <a:pPr algn="l" marL="539754" indent="-269877" lvl="1">
              <a:lnSpc>
                <a:spcPts val="4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Verizon Business. Data Breach Investigations Report 2026. Verizon Business, 2026</a:t>
            </a:r>
          </a:p>
          <a:p>
            <a:pPr algn="l">
              <a:lnSpc>
                <a:spcPts val="4000"/>
              </a:lnSpc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[ https://www.verizon.com/business/resources/report ]</a:t>
            </a:r>
          </a:p>
        </p:txBody>
      </p:sp>
      <p:sp>
        <p:nvSpPr>
          <p:cNvPr name="Freeform 12" id="12"/>
          <p:cNvSpPr/>
          <p:nvPr/>
        </p:nvSpPr>
        <p:spPr>
          <a:xfrm flipH="false" flipV="true" rot="551179">
            <a:off x="7607982" y="8810378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0" y="1703584"/>
                </a:moveTo>
                <a:lnTo>
                  <a:pt x="3072036" y="1703584"/>
                </a:lnTo>
                <a:lnTo>
                  <a:pt x="3072036" y="0"/>
                </a:lnTo>
                <a:lnTo>
                  <a:pt x="0" y="0"/>
                </a:lnTo>
                <a:lnTo>
                  <a:pt x="0" y="17035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3670" y="-190335"/>
            <a:ext cx="21335339" cy="10667670"/>
            <a:chOff x="0" y="0"/>
            <a:chExt cx="28447119" cy="14223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59" y="0"/>
                  </a:lnTo>
                  <a:lnTo>
                    <a:pt x="14223559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223559" y="0"/>
              <a:ext cx="14223559" cy="14223559"/>
            </a:xfrm>
            <a:custGeom>
              <a:avLst/>
              <a:gdLst/>
              <a:ahLst/>
              <a:cxnLst/>
              <a:rect r="r" b="b" t="t" l="l"/>
              <a:pathLst>
                <a:path h="14223559" w="14223559">
                  <a:moveTo>
                    <a:pt x="0" y="0"/>
                  </a:moveTo>
                  <a:lnTo>
                    <a:pt x="14223560" y="0"/>
                  </a:lnTo>
                  <a:lnTo>
                    <a:pt x="14223560" y="14223559"/>
                  </a:lnTo>
                  <a:lnTo>
                    <a:pt x="0" y="1422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523670" y="76047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0" y="0"/>
                </a:moveTo>
                <a:lnTo>
                  <a:pt x="4327228" y="0"/>
                </a:lnTo>
                <a:lnTo>
                  <a:pt x="4327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484442" y="-1432570"/>
            <a:ext cx="4327228" cy="4114800"/>
          </a:xfrm>
          <a:custGeom>
            <a:avLst/>
            <a:gdLst/>
            <a:ahLst/>
            <a:cxnLst/>
            <a:rect r="r" b="b" t="t" l="l"/>
            <a:pathLst>
              <a:path h="4114800" w="4327228">
                <a:moveTo>
                  <a:pt x="43272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27228" y="0"/>
                </a:lnTo>
                <a:lnTo>
                  <a:pt x="432722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47764" y="274902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3072036" y="0"/>
                </a:moveTo>
                <a:lnTo>
                  <a:pt x="0" y="0"/>
                </a:lnTo>
                <a:lnTo>
                  <a:pt x="0" y="1703584"/>
                </a:lnTo>
                <a:lnTo>
                  <a:pt x="3072036" y="1703584"/>
                </a:lnTo>
                <a:lnTo>
                  <a:pt x="30720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463728" y="8308514"/>
            <a:ext cx="3072036" cy="1703583"/>
          </a:xfrm>
          <a:custGeom>
            <a:avLst/>
            <a:gdLst/>
            <a:ahLst/>
            <a:cxnLst/>
            <a:rect r="r" b="b" t="t" l="l"/>
            <a:pathLst>
              <a:path h="1703583" w="3072036">
                <a:moveTo>
                  <a:pt x="0" y="1703584"/>
                </a:moveTo>
                <a:lnTo>
                  <a:pt x="3072036" y="1703584"/>
                </a:lnTo>
                <a:lnTo>
                  <a:pt x="3072036" y="0"/>
                </a:lnTo>
                <a:lnTo>
                  <a:pt x="0" y="0"/>
                </a:lnTo>
                <a:lnTo>
                  <a:pt x="0" y="17035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00566" y="2063834"/>
            <a:ext cx="7786312" cy="8413500"/>
          </a:xfrm>
          <a:custGeom>
            <a:avLst/>
            <a:gdLst/>
            <a:ahLst/>
            <a:cxnLst/>
            <a:rect r="r" b="b" t="t" l="l"/>
            <a:pathLst>
              <a:path h="8413500" w="7786312">
                <a:moveTo>
                  <a:pt x="0" y="0"/>
                </a:moveTo>
                <a:lnTo>
                  <a:pt x="7786312" y="0"/>
                </a:lnTo>
                <a:lnTo>
                  <a:pt x="7786312" y="8413501"/>
                </a:lnTo>
                <a:lnTo>
                  <a:pt x="0" y="84135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82782" y="3775075"/>
            <a:ext cx="6217784" cy="282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>
                <a:solidFill>
                  <a:srgbClr val="000000"/>
                </a:solidFill>
                <a:latin typeface="210 수퍼사이즈"/>
                <a:ea typeface="210 수퍼사이즈"/>
                <a:cs typeface="210 수퍼사이즈"/>
                <a:sym typeface="210 수퍼사이즈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DAHJJF8dkXE</dc:identifier>
  <dcterms:modified xsi:type="dcterms:W3CDTF">2011-08-01T06:04:30Z</dcterms:modified>
  <cp:revision>1</cp:revision>
  <dc:title>Beige Illustrated Research Presentation</dc:title>
</cp:coreProperties>
</file>